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 Digital Health Market ($B)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2026</c:v>
                </c:pt>
                <c:pt idx="2">
                  <c:v>2028</c:v>
                </c:pt>
                <c:pt idx="3">
                  <c:v>2031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12.1</c:v>
                </c:pt>
                <c:pt idx="1">
                  <c:v>18.600000000000001</c:v>
                </c:pt>
                <c:pt idx="2">
                  <c:v>29.6</c:v>
                </c:pt>
                <c:pt idx="3">
                  <c:v>54.8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9E-4BFD-B775-7688B4DE14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ARR ($M)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0.9</c:v>
                </c:pt>
                <c:pt idx="2">
                  <c:v>2.6</c:v>
                </c:pt>
                <c:pt idx="3">
                  <c:v>5.5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5-4741-908D-7855D4ECC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FF-4DAD-88F5-1AE1BA9C7ABD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FF-4DAD-88F5-1AE1BA9C7ABD}"/>
              </c:ext>
            </c:extLst>
          </c:dPt>
          <c:dPt>
            <c:idx val="2"/>
            <c:bubble3D val="0"/>
            <c:spPr>
              <a:solidFill>
                <a:srgbClr val="5FA8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FF-4DAD-88F5-1AE1BA9C7ABD}"/>
              </c:ext>
            </c:extLst>
          </c:dPt>
          <c:dPt>
            <c:idx val="3"/>
            <c:bubble3D val="0"/>
            <c:spPr>
              <a:solidFill>
                <a:srgbClr val="8FB8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FF-4DAD-88F5-1AE1BA9C7AB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FF-4DAD-88F5-1AE1BA9C7AB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FF-4DAD-88F5-1AE1BA9C7AB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DFF-4DAD-88F5-1AE1BA9C7AB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DFF-4DAD-88F5-1AE1BA9C7AB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Product &amp; AI development</c:v>
                </c:pt>
                <c:pt idx="1">
                  <c:v>Go-to-market &amp; Gulf partnerships</c:v>
                </c:pt>
                <c:pt idx="2">
                  <c:v>Regulatory, clinical validation &amp; pilots</c:v>
                </c:pt>
                <c:pt idx="3">
                  <c:v>Team &amp; 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FF-4DAD-88F5-1AE1BA9C7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44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NABAD  </a:t>
            </a: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نبض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8961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Hospital Triage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Queue Management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66928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patient flow in Lebanese hospitals — and scaling across the Middle East &amp; North Africa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4617720"/>
            <a:ext cx="20116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PITCH DECK ·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Ali  ·  Rihab Omar  ·  Sali Homsi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Co-Founders  ·  Lebanese University – Tripoli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day, Lebanese hospitals face the same crisis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blind. Hospitals staff blind. Nobody wins.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22940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9" name="Image 0" descr="/home/claude/icons/clock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369210"/>
            <a:ext cx="473659" cy="4736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3–6 hrs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 wait time in Lebanese hospitals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5196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2294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286000"/>
            <a:ext cx="640080" cy="64008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4" name="Image 1" descr="/home/claude/icons/eyeSlash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210" y="236921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52628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have zero visibility on incoming patients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55280" y="19659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22940"/>
          </a:solidFill>
          <a:ln/>
        </p:spPr>
      </p:sp>
      <p:sp>
        <p:nvSpPr>
          <p:cNvPr id="18" name="Shape 14"/>
          <p:cNvSpPr/>
          <p:nvPr/>
        </p:nvSpPr>
        <p:spPr>
          <a:xfrm>
            <a:off x="8275320" y="2286000"/>
            <a:ext cx="640080" cy="64008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9" name="Image 2" descr="/home/claude/icons/waveOverload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530" y="236921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822960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see uneven patient waves — feast or famine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61772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0B20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5001768"/>
            <a:ext cx="640080" cy="64008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4" name="Image 3" descr="/home/claude/icons/comments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" y="5084978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782312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workaround already exists — informally.  </a:t>
            </a:r>
            <a:r>
              <a:rPr lang="en-US" sz="12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clinicians already message photos of wounds and symptoms over WhatsApp to relatives who are doctors, or straight to hospital staff phones — unstructured, unlogged, and invisible to hospital operations. Nabad turns that existing behavior into a structured, AI-triaged channel.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Founder field interviews with ER staff and patients, Tripoli &amp; Beirut hospitals, 2026; Lebanon Ministry of Public Health facility data.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Nabad connects patients and hospitals through AI — before arrival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4173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HOSPITALS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11" name="Image 0" descr="/home/claude/icons/whatsapp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098548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1993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symptoms via WhatsApp or SMS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14" name="Image 1" descr="/home/claude/icons/bra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150108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30449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3–5 smart follow-up questions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17" name="Image 2" descr="/home/claude/icons/bell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20166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4096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urgency score + arrival time slot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20" name="Image 3" descr="/home/claude/icons/mobileScreen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5253228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5148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download. No waiting in the dark.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63640" y="203911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23" name="Image 4" descr="/home/claude/icons/chartLine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2098548"/>
            <a:ext cx="338328" cy="3383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85432" y="1993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of incoming patients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63640" y="309067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26" name="Image 5" descr="/home/claude/icons/target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3076" y="3150108"/>
            <a:ext cx="338328" cy="3383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85432" y="30449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urgency score per patient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63640" y="414223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29" name="Image 6" descr="/home/claude/icons/arrowTrend_m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3076" y="4201668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85432" y="4096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surge hours for the day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263640" y="519379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32" name="Image 7" descr="/home/claude/icons/check_m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76" y="5253228"/>
            <a:ext cx="338328" cy="33832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85432" y="5148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staffing and zero paper chaos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product concept, 2026 — patient- and hospital-facing workflows as designed for MVP.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Simple. Arabic. Works on any phone.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message to hospital arrival in four steps.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9908" y="170992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49908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0" name="Image 0" descr="/home/claude/icons/comment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445" y="2575865"/>
            <a:ext cx="608990" cy="6089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messages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or records symptoms in Arabic via WhatsApp / SMS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81528" y="333756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383280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4548" y="170992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4548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2910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8" name="Image 1" descr="/home/claude/icons/bra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085" y="2575865"/>
            <a:ext cx="608990" cy="6089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2044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triages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66160" y="388620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urgency and asks smart follow-up questions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16168" y="333756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217920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19188" y="170992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19188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06374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26" name="Image 2" descr="/home/claude/icons/bell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725" y="2575865"/>
            <a:ext cx="608990" cy="60899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5508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assigned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00800" y="388620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receives a confirmed arrival time — or ‘go now’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750808" y="3337560"/>
            <a:ext cx="283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9052560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053828" y="170992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5F8F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053828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9898380" y="2468880"/>
            <a:ext cx="822960" cy="82296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34" name="Image 3" descr="/home/claude/icons/hospital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365" y="2575865"/>
            <a:ext cx="608990" cy="60899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897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notified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235440" y="388620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in real time; staff prepare accordingly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MVP workflow — rule-based triage + WhatsApp Business API + web dashboard.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lightweight AI stack built for Arabic, WhatsApp, and hospital ops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2294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8" name="Image 0" descr="/home/claude/icons/comments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89418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468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intake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77063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NLU engine (MSA + dialects) conducts a natural symptom conversation over WhatsApp / SMS text or voice notes.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912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22940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3" name="Image 1" descr="/home/claude/icons/gears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00" y="18941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468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urgency engine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17720" y="277063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Clinically-informed rule set (Manchester Triage-style logic) layered with an ML risk model, calibrated with medical advisors.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22940"/>
          </a:solidFill>
          <a:ln/>
        </p:spPr>
      </p:sp>
      <p:sp>
        <p:nvSpPr>
          <p:cNvPr id="17" name="Shape 13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8" name="Image 2" descr="/home/claude/icons/arrowTrend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80" y="189418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2468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surge analytics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458200" y="277063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on incoming-message volume predicts hourly ER surges before patients arrive.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22940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3" name="Image 3" descr="/home/claude/icons/chartLin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4088740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4663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hospital dashboard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77240" y="496519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showing live queue, urgency heatmap, and staffing recommendations — no installation required.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38912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22940"/>
          </a:solidFill>
          <a:ln/>
        </p:spPr>
      </p:sp>
      <p:sp>
        <p:nvSpPr>
          <p:cNvPr id="27" name="Shape 21"/>
          <p:cNvSpPr/>
          <p:nvPr/>
        </p:nvSpPr>
        <p:spPr>
          <a:xfrm>
            <a:off x="4617720" y="4023360"/>
            <a:ext cx="502920" cy="50292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8" name="Image 4" descr="/home/claude/icons/server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100" y="4088740"/>
            <a:ext cx="372161" cy="3721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17720" y="4663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regional cloud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17720" y="496519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patient data, regional hosting for data residency, and an HL7/FHIR-ready API for future EMR integration.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22960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22940"/>
          </a:solidFill>
          <a:ln/>
        </p:spPr>
      </p:sp>
      <p:sp>
        <p:nvSpPr>
          <p:cNvPr id="32" name="Shape 25"/>
          <p:cNvSpPr/>
          <p:nvPr/>
        </p:nvSpPr>
        <p:spPr>
          <a:xfrm>
            <a:off x="8458200" y="4023360"/>
            <a:ext cx="502920" cy="50292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33" name="Image 5" descr="/home/claude/icons/shield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3580" y="4088740"/>
            <a:ext cx="372161" cy="3721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58200" y="4663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by design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458200" y="496519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Lebanon MoPH data guidance today; roadmap to Saudi PDPL / SFDA SaMD and UAE DoH/DHA residency rules for Gulf entry.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technical architecture, MVP + roadmap, 2026. SFDA = Saudi Food &amp; Drug Authority; DoH/DHA = Dept. of Health Abu Dhabi / Dubai Health Authority.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forces are converging on this exact moment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2294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64208"/>
            <a:ext cx="530352" cy="530352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8" name="Image 0" descr="/home/claude/icons/flag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1733154"/>
            <a:ext cx="392460" cy="392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55448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Lebanon is the pilot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17720" y="1554480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urgent need. Low prototyping cost. 150+ hospitals ready to test a free solution.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45059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0F293D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560320"/>
            <a:ext cx="530352" cy="530352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3" name="Image 1" descr="/home/claude/icons/buildingColumns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6" y="2629266"/>
            <a:ext cx="392460" cy="392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450592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Gulf is the scale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2450592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Vision 2030 and UAE digital health mandates create B2G contract pathways worth millions.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34670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22940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456432"/>
            <a:ext cx="530352" cy="530352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8" name="Image 2" descr="/home/claude/icons/whatsapp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66" y="3525378"/>
            <a:ext cx="392460" cy="392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346704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is the channel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617720" y="3346704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Near-universal penetration in MENA. No app install needed. Works on any phone, any network.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24281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0F293D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4352544"/>
            <a:ext cx="530352" cy="530352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3" name="Image 3" descr="/home/claude/icons/brain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66" y="4421490"/>
            <a:ext cx="392460" cy="392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242816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Arabic AI is a rare moat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617720" y="4242816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global health AI tools perform poorly in Arabic dialects. First-mover advantage lasts 3–5 years.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513892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22940"/>
          </a:solidFill>
          <a:ln/>
        </p:spPr>
      </p:sp>
      <p:sp>
        <p:nvSpPr>
          <p:cNvPr id="27" name="Shape 21"/>
          <p:cNvSpPr/>
          <p:nvPr/>
        </p:nvSpPr>
        <p:spPr>
          <a:xfrm>
            <a:off x="731520" y="5248656"/>
            <a:ext cx="530352" cy="530352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8" name="Image 4" descr="/home/claude/icons/rocket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466" y="5317602"/>
            <a:ext cx="392460" cy="3924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08760" y="513892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in weeks, not months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617720" y="513892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triage + WhatsApp API + web dashboard = working prototype in under a month.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fast-growing digital health market with a wide-open Arabic-AI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0E3B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  $54.8B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&amp; Africa digital health market by 2031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60627" y="2670048"/>
            <a:ext cx="3450946" cy="105156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543507" y="2761488"/>
            <a:ext cx="3085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  ~$180M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43507" y="3127248"/>
            <a:ext cx="30851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target hospitals across Levant + GCC, at blended contract 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0367" y="3922776"/>
            <a:ext cx="2131466" cy="105156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203247" y="4014216"/>
            <a:ext cx="17657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  $9.0M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03247" y="4379976"/>
            <a:ext cx="17657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Year-5 ARR target — 330 hospitals &amp; contracts (22% of SAM)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417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digital health market, 2024–2031 (USD Billions)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943600" y="1691640"/>
          <a:ext cx="5669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5943600" y="4251960"/>
            <a:ext cx="18013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4361688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$420B → $1.83T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53328" y="4782312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health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53328" y="5056632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2026–2033, 23.4% CAGR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872984" y="4251960"/>
            <a:ext cx="18013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4361688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$2.4B → $11–17B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82712" y="4782312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digital health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982712" y="5056632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2024→early 2030s, 20–24% CAGR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9802368" y="4251960"/>
            <a:ext cx="18013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12096" y="4361688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912096" y="4782312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digital health CAGR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912096" y="5056632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telemedicine, AI diagnostics, remote monitoring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Insight Partners, MEA Digital Health Market Report (2026); Grand View Research, Digital Health Market Report (2026); Arab News / Oliver Wyman, Saudi digital health market analysis (2026); MedDeviceGuide, MENA Medical Device Market (2026). SAM/SOM: Nabad bottom-up estimate.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SaaS, priced per hospital — with an enterprise B2G layer in the Gulf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2294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8" name="Image 0" descr="/home/claude/icons/hospital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677924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1945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SaaS Subscription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251460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Per-hospital annual fee for the triage engine, dashboard, and surge analytics. Tiered by bed count / patient volume.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22940"/>
          </a:solidFill>
          <a:ln/>
        </p:spPr>
      </p:sp>
      <p:sp>
        <p:nvSpPr>
          <p:cNvPr id="12" name="Shape 9"/>
          <p:cNvSpPr/>
          <p:nvPr/>
        </p:nvSpPr>
        <p:spPr>
          <a:xfrm>
            <a:off x="3584448" y="1618488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3" name="Image 1" descr="/home/claude/icons/comments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167792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1945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Interaction Usage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84448" y="251460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AI-conversation volume bundled into each tier; overage billed per 1,000 interactions.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22940"/>
          </a:solidFill>
          <a:ln/>
        </p:spPr>
      </p:sp>
      <p:sp>
        <p:nvSpPr>
          <p:cNvPr id="17" name="Shape 13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8" name="Image 2" descr="/home/claude/icons/buildingColumns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1677924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21945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B2G Contracts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19088" y="251460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deployments for MOH / health authorities in the Gulf — the highest-value, highest-stickiness tier.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905256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22940"/>
          </a:solidFill>
          <a:ln/>
        </p:spPr>
      </p:sp>
      <p:sp>
        <p:nvSpPr>
          <p:cNvPr id="22" name="Shape 17"/>
          <p:cNvSpPr/>
          <p:nvPr/>
        </p:nvSpPr>
        <p:spPr>
          <a:xfrm>
            <a:off x="9253728" y="1618488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3" name="Image 3" descr="/home/claude/icons/chartPi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3164" y="1677924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53728" y="219456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Insights Add-on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253728" y="2514600"/>
            <a:ext cx="2295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aggregated surge and demand forecasting sold to MOH / insurers as a premium module (Year 3+).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(ANNUAL CONTRACT VALUE)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749040"/>
            <a:ext cx="2194560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8368" y="37490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743200" y="3749040"/>
            <a:ext cx="3383280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852928" y="37490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126480" y="3749040"/>
            <a:ext cx="1554480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36208" y="374904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ACV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680960" y="3749040"/>
            <a:ext cx="3931920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790688" y="3749040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48640" y="4114800"/>
            <a:ext cx="219456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58368" y="411480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 Standard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2743200" y="4114800"/>
            <a:ext cx="338328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2852928" y="41148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Lebanon, Jordan, Iraq hospitals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126480" y="4114800"/>
            <a:ext cx="155448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236208" y="411480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680960" y="4114800"/>
            <a:ext cx="393192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790688" y="4114800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engine, dashboard, WhatsApp channel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548640" y="4617720"/>
            <a:ext cx="2194560" cy="502920"/>
          </a:xfrm>
          <a:prstGeom prst="rect">
            <a:avLst/>
          </a:prstGeom>
          <a:solidFill>
            <a:srgbClr val="12294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58368" y="461772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Private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2743200" y="4617720"/>
            <a:ext cx="3383280" cy="502920"/>
          </a:xfrm>
          <a:prstGeom prst="rect">
            <a:avLst/>
          </a:prstGeom>
          <a:solidFill>
            <a:srgbClr val="12294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2852928" y="46177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/ Saudi private hospitals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6126480" y="4617720"/>
            <a:ext cx="1554480" cy="502920"/>
          </a:xfrm>
          <a:prstGeom prst="rect">
            <a:avLst/>
          </a:prstGeom>
          <a:solidFill>
            <a:srgbClr val="12294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236208" y="46177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$38,000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7680960" y="4617720"/>
            <a:ext cx="3931920" cy="502920"/>
          </a:xfrm>
          <a:prstGeom prst="rect">
            <a:avLst/>
          </a:prstGeom>
          <a:solidFill>
            <a:srgbClr val="122940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7790688" y="4617720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predictive analytics, priority support, EMR API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548640" y="5120640"/>
            <a:ext cx="219456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58368" y="51206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Enterprise (B2G)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2743200" y="5120640"/>
            <a:ext cx="338328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2852928" y="51206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/ health authority networks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6126480" y="5120640"/>
            <a:ext cx="155448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6236208" y="512064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$220,000</a:t>
            </a:r>
            <a:endParaRPr lang="en-US" sz="1050" dirty="0"/>
          </a:p>
        </p:txBody>
      </p:sp>
      <p:sp>
        <p:nvSpPr>
          <p:cNvPr id="57" name="Shape 51"/>
          <p:cNvSpPr/>
          <p:nvPr/>
        </p:nvSpPr>
        <p:spPr>
          <a:xfrm>
            <a:off x="7680960" y="5120640"/>
            <a:ext cx="3931920" cy="502920"/>
          </a:xfrm>
          <a:prstGeom prst="rect">
            <a:avLst/>
          </a:prstGeom>
          <a:solidFill>
            <a:srgbClr val="0F293D"/>
          </a:solidFill>
          <a:ln w="9525">
            <a:solidFill>
              <a:srgbClr val="0A1D2C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790688" y="5120640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multi-facility rollout, custom SLAs, data insights</a:t>
            </a:r>
            <a:endParaRPr lang="en-US" sz="1050" dirty="0"/>
          </a:p>
        </p:txBody>
      </p:sp>
      <p:sp>
        <p:nvSpPr>
          <p:cNvPr id="59" name="Text 53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pricing model (illustrative), based on comparable MENA hospital SaaS and telehealth benchmarks. ACV = Annual Contract Value.</a:t>
            </a:r>
            <a:endParaRPr lang="en-US" sz="850" dirty="0"/>
          </a:p>
        </p:txBody>
      </p:sp>
      <p:sp>
        <p:nvSpPr>
          <p:cNvPr id="60" name="Text 5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in Lebanon. Scale it through the Levant. Monetize in the Gulf.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3794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670048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7" name="Image 0" descr="/home/claude/icons/fla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17444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2026–27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Lebanon Pilot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pilots in 5–10 hospitals (starting Tripoli &amp; Beirut). Validate triage accuracy, gather clinical feedback, convert to paid.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36976" y="34975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55848" y="1783080"/>
            <a:ext cx="2670048" cy="3794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55848" y="1783080"/>
            <a:ext cx="2670048" cy="73152"/>
          </a:xfrm>
          <a:prstGeom prst="rect">
            <a:avLst/>
          </a:prstGeom>
          <a:solidFill>
            <a:srgbClr val="0F7A8C"/>
          </a:solidFill>
          <a:ln/>
        </p:spPr>
      </p:sp>
      <p:sp>
        <p:nvSpPr>
          <p:cNvPr id="14" name="Shape 11"/>
          <p:cNvSpPr/>
          <p:nvPr/>
        </p:nvSpPr>
        <p:spPr>
          <a:xfrm>
            <a:off x="3584448" y="2103120"/>
            <a:ext cx="548640" cy="54864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5" name="Image 1" descr="/home/claude/icons/mapLocatio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71" y="2174443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4448" y="27889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2028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84448" y="3063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 Expansion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584448" y="35661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rollout across Lebanon + entry into Jordan and Iraq. Build case studies and MoPH-level relationships.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044184" y="34975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163056" y="1783080"/>
            <a:ext cx="2670048" cy="3794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783080"/>
            <a:ext cx="2670048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91656" y="2103120"/>
            <a:ext cx="548640" cy="54864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23" name="Image 2" descr="/home/claude/icons/buildingColumn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79" y="2174443"/>
            <a:ext cx="405994" cy="4059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1656" y="27889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2029–30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391656" y="3063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Private Entry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91656" y="35661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to private hospital groups in UAE &amp; Saudi Arabia; complete SFDA / DoH regulatory pathway.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851392" y="34975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970264" y="1783080"/>
            <a:ext cx="2670048" cy="37947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970264" y="1783080"/>
            <a:ext cx="2670048" cy="73152"/>
          </a:xfrm>
          <a:prstGeom prst="rect">
            <a:avLst/>
          </a:prstGeom>
          <a:solidFill>
            <a:srgbClr val="02A387"/>
          </a:solidFill>
          <a:ln/>
        </p:spPr>
      </p:sp>
      <p:sp>
        <p:nvSpPr>
          <p:cNvPr id="30" name="Shape 25"/>
          <p:cNvSpPr/>
          <p:nvPr/>
        </p:nvSpPr>
        <p:spPr>
          <a:xfrm>
            <a:off x="9198864" y="2103120"/>
            <a:ext cx="548640" cy="548640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31" name="Image 3" descr="/home/claude/icons/rocke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0187" y="2174443"/>
            <a:ext cx="405994" cy="40599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98864" y="27889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2031+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198864" y="3063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B2G Scale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9198864" y="35661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/ health-authority enterprise contracts across the GCC; regional category leadership.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go-to-market plan, 2026 (illustrative timeline; regulatory timelines depend on SFDA / DoH-DHA review cycles).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Nabad sits where patient-facing AI meets hospital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594360"/>
          </a:xfrm>
          <a:prstGeom prst="rect">
            <a:avLst/>
          </a:prstGeom>
          <a:solidFill>
            <a:srgbClr val="0E3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3236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31920" y="1691640"/>
            <a:ext cx="18745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5072" y="169164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1691640"/>
            <a:ext cx="1874520" cy="594360"/>
          </a:xfrm>
          <a:prstGeom prst="rect">
            <a:avLst/>
          </a:prstGeom>
          <a:solidFill>
            <a:srgbClr val="0E3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9592" y="169164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apps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(Vezeeta, Altibbi)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691640"/>
            <a:ext cx="1874520" cy="594360"/>
          </a:xfrm>
          <a:prstGeom prst="rect">
            <a:avLst/>
          </a:prstGeom>
          <a:solidFill>
            <a:srgbClr val="0E3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69164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EMR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555480" y="1691640"/>
            <a:ext cx="1874520" cy="594360"/>
          </a:xfrm>
          <a:prstGeom prst="rect">
            <a:avLst/>
          </a:prstGeom>
          <a:solidFill>
            <a:srgbClr val="0E3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632" y="169164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(Ada, Babylon)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3832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2860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Arabic-dialect conversational 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2286000"/>
            <a:ext cx="1874520" cy="566928"/>
          </a:xfrm>
          <a:prstGeom prst="rect">
            <a:avLst/>
          </a:prstGeom>
          <a:solidFill>
            <a:srgbClr val="E6F3F2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2860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0960" y="2286000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2860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55480" y="2286000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2860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2852928"/>
            <a:ext cx="33832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85292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(WhatsApp/SMS native)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2852928"/>
            <a:ext cx="1874520" cy="566928"/>
          </a:xfrm>
          <a:prstGeom prst="rect">
            <a:avLst/>
          </a:prstGeom>
          <a:solidFill>
            <a:srgbClr val="E6F3F2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285292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06440" y="28529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285292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80960" y="28529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285292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55480" y="28529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55480" y="285292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419856"/>
            <a:ext cx="33832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4198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Hospital-side live ops dashboard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931920" y="3419856"/>
            <a:ext cx="1874520" cy="566928"/>
          </a:xfrm>
          <a:prstGeom prst="rect">
            <a:avLst/>
          </a:prstGeom>
          <a:solidFill>
            <a:srgbClr val="E6F3F2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341985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06440" y="3419856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341985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80960" y="3419856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41985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555480" y="3419856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55480" y="341985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3986784"/>
            <a:ext cx="33832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39867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surge / staffing analytics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931920" y="3986784"/>
            <a:ext cx="1874520" cy="566928"/>
          </a:xfrm>
          <a:prstGeom prst="rect">
            <a:avLst/>
          </a:prstGeom>
          <a:solidFill>
            <a:srgbClr val="E6F3F2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98678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806440" y="3986784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398678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680960" y="3986784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398678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555480" y="3986784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55480" y="398678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4553712"/>
            <a:ext cx="33832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55371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regulatory &amp; cultural fit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931920" y="4553712"/>
            <a:ext cx="1874520" cy="566928"/>
          </a:xfrm>
          <a:prstGeom prst="rect">
            <a:avLst/>
          </a:prstGeom>
          <a:solidFill>
            <a:srgbClr val="E6F3F2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4553712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06440" y="4553712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06440" y="4553712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680960" y="4553712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4553712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555480" y="4553712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55480" y="4553712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48640" y="5257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capability     ◐ Partial capability     – Not offered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competitive analysis, 2026, based on public product information for named categories. Category examples are illustrative, not exhaustive.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$0.2M to $9M ARR in five years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57607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 by year (USD Millions)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1417320"/>
            <a:ext cx="1965960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56832" y="1417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49640" y="1417320"/>
            <a:ext cx="621792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14173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71432" y="1417320"/>
            <a:ext cx="621792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71432" y="14173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793224" y="1417320"/>
            <a:ext cx="621792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93224" y="14173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415016" y="1417320"/>
            <a:ext cx="621792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15016" y="14173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036808" y="1417320"/>
            <a:ext cx="621792" cy="365760"/>
          </a:xfrm>
          <a:prstGeom prst="rect">
            <a:avLst/>
          </a:prstGeom>
          <a:solidFill>
            <a:srgbClr val="0A203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36808" y="14173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0" y="1783080"/>
            <a:ext cx="1965960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1783080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 hospitals (live)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549640" y="1783080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49640" y="178308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171432" y="1783080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71432" y="178308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793224" y="1783080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93224" y="178308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0415016" y="1783080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15016" y="178308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1036808" y="1783080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036808" y="178308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583680" y="2167128"/>
            <a:ext cx="1965960" cy="384048"/>
          </a:xfrm>
          <a:prstGeom prst="rect">
            <a:avLst/>
          </a:prstGeom>
          <a:solidFill>
            <a:srgbClr val="0F293D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56832" y="2167128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private hospitals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549640" y="2167128"/>
            <a:ext cx="621792" cy="384048"/>
          </a:xfrm>
          <a:prstGeom prst="rect">
            <a:avLst/>
          </a:prstGeom>
          <a:solidFill>
            <a:srgbClr val="0F293D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49640" y="2167128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171432" y="2167128"/>
            <a:ext cx="621792" cy="384048"/>
          </a:xfrm>
          <a:prstGeom prst="rect">
            <a:avLst/>
          </a:prstGeom>
          <a:solidFill>
            <a:srgbClr val="0F293D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1432" y="2167128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9793224" y="2167128"/>
            <a:ext cx="621792" cy="384048"/>
          </a:xfrm>
          <a:prstGeom prst="rect">
            <a:avLst/>
          </a:prstGeom>
          <a:solidFill>
            <a:srgbClr val="0F293D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93224" y="2167128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0415016" y="2167128"/>
            <a:ext cx="621792" cy="384048"/>
          </a:xfrm>
          <a:prstGeom prst="rect">
            <a:avLst/>
          </a:prstGeom>
          <a:solidFill>
            <a:srgbClr val="0F293D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15016" y="2167128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1036808" y="2167128"/>
            <a:ext cx="621792" cy="384048"/>
          </a:xfrm>
          <a:prstGeom prst="rect">
            <a:avLst/>
          </a:prstGeom>
          <a:solidFill>
            <a:srgbClr val="0F293D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036808" y="2167128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583680" y="2551176"/>
            <a:ext cx="1965960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56832" y="2551176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B2G contracts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549640" y="2551176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49640" y="2551176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9171432" y="2551176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71432" y="2551176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9793224" y="2551176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793224" y="2551176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415016" y="2551176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415016" y="2551176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1036808" y="2551176"/>
            <a:ext cx="621792" cy="384048"/>
          </a:xfrm>
          <a:prstGeom prst="rect">
            <a:avLst/>
          </a:prstGeom>
          <a:solidFill>
            <a:srgbClr val="12294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036808" y="2551176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583680" y="2935224"/>
            <a:ext cx="1965960" cy="384048"/>
          </a:xfrm>
          <a:prstGeom prst="rect">
            <a:avLst/>
          </a:prstGeom>
          <a:solidFill>
            <a:srgbClr val="02809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56832" y="2935224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8549640" y="2935224"/>
            <a:ext cx="621792" cy="384048"/>
          </a:xfrm>
          <a:prstGeom prst="rect">
            <a:avLst/>
          </a:prstGeom>
          <a:solidFill>
            <a:srgbClr val="02809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49640" y="2935224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$0.2M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171432" y="2935224"/>
            <a:ext cx="621792" cy="384048"/>
          </a:xfrm>
          <a:prstGeom prst="rect">
            <a:avLst/>
          </a:prstGeom>
          <a:solidFill>
            <a:srgbClr val="02809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171432" y="2935224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$0.9M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9793224" y="2935224"/>
            <a:ext cx="621792" cy="384048"/>
          </a:xfrm>
          <a:prstGeom prst="rect">
            <a:avLst/>
          </a:prstGeom>
          <a:solidFill>
            <a:srgbClr val="02809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793224" y="2935224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10415016" y="2935224"/>
            <a:ext cx="621792" cy="384048"/>
          </a:xfrm>
          <a:prstGeom prst="rect">
            <a:avLst/>
          </a:prstGeom>
          <a:solidFill>
            <a:srgbClr val="02809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415016" y="2935224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$5.5M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11036808" y="2935224"/>
            <a:ext cx="621792" cy="384048"/>
          </a:xfrm>
          <a:prstGeom prst="rect">
            <a:avLst/>
          </a:prstGeom>
          <a:solidFill>
            <a:srgbClr val="028090"/>
          </a:solidFill>
          <a:ln w="9525">
            <a:solidFill>
              <a:srgbClr val="0D213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1036808" y="2935224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$9.0M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6583680" y="3547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6583680" y="3849624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784848" y="38496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contract value: $10K (Levant) / $38K (Gulf private) / $220K (Gulf B2G)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6583680" y="41605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6784848" y="416052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 of ~78% (cloud infra + WhatsApp API costs)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6583680" y="4471416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784848" y="44714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~110% as hospitals expand across departments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6583680" y="4782312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6784848" y="478231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regulatory approvals (SFDA, DoH/DHA) secured by early 2029</a:t>
            </a:r>
            <a:endParaRPr lang="en-US" sz="950" dirty="0"/>
          </a:p>
        </p:txBody>
      </p:sp>
      <p:sp>
        <p:nvSpPr>
          <p:cNvPr id="77" name="Text 74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management projections, 2026 — illustrative and not a guarantee of future performance. SAM/pricing basis per Business Model slide.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Early, deliberate progress — built to move fast with funding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SO FAR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6" name="Image 0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1917314"/>
            <a:ext cx="243596" cy="2435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8470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assembled at Lebanese University – Tripoli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9" name="Image 1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484242"/>
            <a:ext cx="243596" cy="2435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4140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validated via field interviews with ER staff &amp; patients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2" name="Image 2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051170"/>
            <a:ext cx="243596" cy="2435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9809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triage question logic drafted for medical review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5" name="Image 3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618098"/>
            <a:ext cx="243596" cy="2435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5478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sandbox integration underway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rgbClr val="E6F3F2"/>
          </a:solidFill>
          <a:ln/>
        </p:spPr>
      </p:sp>
      <p:pic>
        <p:nvPicPr>
          <p:cNvPr id="18" name="Image 4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4185026"/>
            <a:ext cx="243596" cy="2435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conversations opened with 3 hospitals in Tripoli &amp; Beirut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263640" y="14630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 (WITH SEED FUNDING)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63640" y="18745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263640" y="187452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16"/>
          <p:cNvSpPr/>
          <p:nvPr/>
        </p:nvSpPr>
        <p:spPr>
          <a:xfrm>
            <a:off x="6446520" y="187452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7680960" y="18745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MVP: WhatsApp triage + live web dashboard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63640" y="26517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263640" y="265176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0"/>
          <p:cNvSpPr/>
          <p:nvPr/>
        </p:nvSpPr>
        <p:spPr>
          <a:xfrm>
            <a:off x="6446520" y="265176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680960" y="26517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pilot hospital live in Lebanon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34290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63640" y="342900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4"/>
          <p:cNvSpPr/>
          <p:nvPr/>
        </p:nvSpPr>
        <p:spPr>
          <a:xfrm>
            <a:off x="6446520" y="34290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680960" y="34290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advisory board formalized; triage logic validated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263640" y="42062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263640" y="420624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28"/>
          <p:cNvSpPr/>
          <p:nvPr/>
        </p:nvSpPr>
        <p:spPr>
          <a:xfrm>
            <a:off x="6446520" y="42062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Q2–Q4 2027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7680960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20 hospitals across Lebanon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internal roadmap, 2026.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founders who know the hospitals they're fixing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22940"/>
          </a:solidFill>
          <a:ln/>
        </p:spPr>
      </p:sp>
      <p:sp>
        <p:nvSpPr>
          <p:cNvPr id="7" name="Shape 5"/>
          <p:cNvSpPr/>
          <p:nvPr/>
        </p:nvSpPr>
        <p:spPr>
          <a:xfrm>
            <a:off x="1707185" y="2120207"/>
            <a:ext cx="1188720" cy="1188720"/>
          </a:xfrm>
          <a:prstGeom prst="ellipse">
            <a:avLst/>
          </a:prstGeom>
          <a:solidFill>
            <a:srgbClr val="16324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4500" y="2057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Mariam Ali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Product &amp;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product design and the triage AI logic — translating clinical workflows into a conversational system patients trust.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2294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94598" y="2080260"/>
            <a:ext cx="1188720" cy="1188720"/>
          </a:xfrm>
          <a:prstGeom prst="ellipse">
            <a:avLst/>
          </a:prstGeom>
          <a:solidFill>
            <a:srgbClr val="16324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9260" y="2057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3429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Rihab Omar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Clinical &amp; Regulatory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42062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clinical validation and the regulatory roadmap, from Lebanon MoPH guidance through Gulf market entry requirements.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22940"/>
          </a:solidFill>
          <a:ln/>
        </p:spPr>
      </p:sp>
      <p:sp>
        <p:nvSpPr>
          <p:cNvPr id="19" name="Shape 17"/>
          <p:cNvSpPr/>
          <p:nvPr/>
        </p:nvSpPr>
        <p:spPr>
          <a:xfrm>
            <a:off x="9307252" y="2057400"/>
            <a:ext cx="1188720" cy="1188720"/>
          </a:xfrm>
          <a:prstGeom prst="ellipse">
            <a:avLst/>
          </a:prstGeom>
          <a:solidFill>
            <a:srgbClr val="16324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endParaRPr lang="en-US" sz="2600" b="1" dirty="0">
              <a:solidFill>
                <a:srgbClr val="02C39A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</a:rPr>
              <a:t>MA</a:t>
            </a:r>
            <a:endParaRPr lang="en-US" sz="2600" dirty="0"/>
          </a:p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04020" y="2057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3429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Mariam  ALI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Business &amp; Operations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2062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hospital partnerships, pilot rollouts, and the go-to-market motion across Lebanon and the wider region.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founding team, Lebanese University – Tripoli, 2026.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4C340B00-9044-83C2-08B4-A795DBC85492}"/>
              </a:ext>
            </a:extLst>
          </p:cNvPr>
          <p:cNvSpPr/>
          <p:nvPr/>
        </p:nvSpPr>
        <p:spPr>
          <a:xfrm>
            <a:off x="9310484" y="2063357"/>
            <a:ext cx="1188720" cy="1188720"/>
          </a:xfrm>
          <a:prstGeom prst="ellipse">
            <a:avLst/>
          </a:prstGeom>
          <a:solidFill>
            <a:srgbClr val="16324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endParaRPr lang="en-US" b="1" dirty="0">
              <a:solidFill>
                <a:srgbClr val="02C39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/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a $750K Seed round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Lebanon-wide traction and a Gulf pilot-ready product.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14884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263640" y="18745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$750K UNLOCKS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240280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1" name="Image 0" descr="/home/claude/icons/rocket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22997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2221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to full product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0" y="24963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engine + dashboard hardened for 20+ concurrent hospitals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63640" y="3026664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5" name="Image 1" descr="/home/claude/icons/hospital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086100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30083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live Lebanese hospitals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858000" y="32826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retention, clinical accuracy, and willingness to pay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63640" y="3813048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9" name="Image 2" descr="/home/claude/icons/shield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76" y="3872484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3794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regulatory readiness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85800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 / DoH-DHA submission prepared for Year-3 entry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263640" y="4599432"/>
            <a:ext cx="457200" cy="45720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3" name="Image 3" descr="/home/claude/icons/userDoctor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658868"/>
            <a:ext cx="338328" cy="3383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0" y="4581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advisory board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858000" y="48554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clinical validation of triage logic and safety protocols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48640" y="6108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Nabad seed round terms available on request. Use-of-funds allocation is illustrative and subject to refinement during diligence.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75488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548640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6223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NABAD  </a:t>
            </a: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نبض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minute of waiting is a minute of uncertainty.</a:t>
            </a:r>
            <a:endParaRPr lang="en-US" sz="28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Nabad gives that minute back — to patients and to hospitals.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66928" y="3794760"/>
            <a:ext cx="20116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10" name="Image 1" descr="/home/claude/icons/hospital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417423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1330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willing to pilot the dashboard — even one ward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736592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13" name="Image 2" descr="/home/claude/icons/userDoctor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796028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advisor to validate our triage question logic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358384"/>
            <a:ext cx="457200" cy="457200"/>
          </a:xfrm>
          <a:prstGeom prst="ellipse">
            <a:avLst/>
          </a:prstGeom>
          <a:solidFill>
            <a:srgbClr val="122940"/>
          </a:solidFill>
          <a:ln/>
        </p:spPr>
      </p:sp>
      <p:pic>
        <p:nvPicPr>
          <p:cNvPr id="16" name="Image 3" descr="/home/claude/icons/comments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5417820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5376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most critical patient data to collect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66928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mariam.ali@nabad.health   ·   +961 XX XXX XXX   ·   nabad.health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66928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Pulse. Clarity. Care.   —   Built in Tripoli, Lebanon.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1846</Words>
  <Application>Microsoft Office PowerPoint</Application>
  <PresentationFormat>Widescreen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Sali Alhomsi</cp:lastModifiedBy>
  <cp:revision>2</cp:revision>
  <dcterms:created xsi:type="dcterms:W3CDTF">2026-08-07T09:43:08Z</dcterms:created>
  <dcterms:modified xsi:type="dcterms:W3CDTF">2026-10-11T10:58:07Z</dcterms:modified>
</cp:coreProperties>
</file>